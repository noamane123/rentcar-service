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92" d="100"/>
          <a:sy n="92" d="100"/>
        </p:scale>
        <p:origin x="756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7401932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9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943600" y="2560320"/>
            <a:ext cx="3474720" cy="2743200"/>
          </a:xfrm>
          <a:prstGeom prst="rect">
            <a:avLst/>
          </a:prstGeom>
          <a:solidFill>
            <a:srgbClr val="E63946">
              <a:alpha val="12000"/>
            </a:srgbClr>
          </a:solidFill>
          <a:ln w="19050">
            <a:solidFill>
              <a:srgbClr val="E6394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583680" y="2926080"/>
            <a:ext cx="2743200" cy="2286000"/>
          </a:xfrm>
          <a:prstGeom prst="rect">
            <a:avLst/>
          </a:prstGeom>
          <a:solidFill>
            <a:srgbClr val="06B6D4">
              <a:alpha val="8000"/>
            </a:srgbClr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309360" y="457200"/>
            <a:ext cx="2468880" cy="2468880"/>
          </a:xfrm>
          <a:prstGeom prst="ellipse">
            <a:avLst/>
          </a:prstGeom>
          <a:solidFill>
            <a:srgbClr val="E63946">
              <a:alpha val="20000"/>
            </a:srgbClr>
          </a:solidFill>
          <a:ln w="25400">
            <a:solidFill>
              <a:srgbClr val="E6394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46520" y="594360"/>
            <a:ext cx="2194560" cy="2194560"/>
          </a:xfrm>
          <a:prstGeom prst="ellipse">
            <a:avLst/>
          </a:prstGeom>
          <a:solidFill>
            <a:srgbClr val="E63946">
              <a:alpha val="45000"/>
            </a:srgbClr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20040" y="502920"/>
            <a:ext cx="1737360" cy="320040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0040" y="50292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kern="0" spc="300" dirty="0">
                <a:solidFill>
                  <a:srgbClr val="FFFFFF"/>
                </a:solidFill>
              </a:rPr>
              <a:t>PRÉSENTATION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320040" y="1005840"/>
            <a:ext cx="5486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de</a:t>
            </a:r>
            <a:endParaRPr lang="en-US" sz="4600" dirty="0"/>
          </a:p>
        </p:txBody>
      </p:sp>
      <p:sp>
        <p:nvSpPr>
          <p:cNvPr id="10" name="Text 8"/>
          <p:cNvSpPr/>
          <p:nvPr/>
        </p:nvSpPr>
        <p:spPr>
          <a:xfrm>
            <a:off x="320040" y="1691640"/>
            <a:ext cx="5486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60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Gestion Location</a:t>
            </a:r>
            <a:endParaRPr lang="en-US" sz="4600" dirty="0"/>
          </a:p>
        </p:txBody>
      </p:sp>
      <p:sp>
        <p:nvSpPr>
          <p:cNvPr id="11" name="Text 9"/>
          <p:cNvSpPr/>
          <p:nvPr/>
        </p:nvSpPr>
        <p:spPr>
          <a:xfrm>
            <a:off x="320040" y="2423160"/>
            <a:ext cx="5486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Voitures</a:t>
            </a:r>
            <a:endParaRPr lang="en-US" sz="4600" dirty="0"/>
          </a:p>
        </p:txBody>
      </p:sp>
      <p:sp>
        <p:nvSpPr>
          <p:cNvPr id="12" name="Shape 10"/>
          <p:cNvSpPr/>
          <p:nvPr/>
        </p:nvSpPr>
        <p:spPr>
          <a:xfrm>
            <a:off x="320040" y="3474720"/>
            <a:ext cx="2011680" cy="384048"/>
          </a:xfrm>
          <a:prstGeom prst="roundRect">
            <a:avLst>
              <a:gd name="adj" fmla="val 11905"/>
            </a:avLst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0040" y="3474720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Laravel + MySQL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514600" y="3474720"/>
            <a:ext cx="2011680" cy="384048"/>
          </a:xfrm>
          <a:prstGeom prst="roundRect">
            <a:avLst>
              <a:gd name="adj" fmla="val 11905"/>
            </a:avLst>
          </a:prstGeom>
          <a:solidFill>
            <a:srgbClr val="1E3448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514600" y="3474720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Interface Française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709160" y="3474720"/>
            <a:ext cx="2011680" cy="384048"/>
          </a:xfrm>
          <a:prstGeom prst="roundRect">
            <a:avLst>
              <a:gd name="adj" fmla="val 11905"/>
            </a:avLst>
          </a:prstGeom>
          <a:solidFill>
            <a:srgbClr val="1E3448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709160" y="3474720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Architecture MVC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20040" y="4069080"/>
            <a:ext cx="4389120" cy="0"/>
          </a:xfrm>
          <a:prstGeom prst="line">
            <a:avLst/>
          </a:prstGeom>
          <a:noFill/>
          <a:ln w="6350">
            <a:solidFill>
              <a:srgbClr val="94A3B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20040" y="4406577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i="1" dirty="0" err="1">
                <a:solidFill>
                  <a:srgbClr val="94A3B8"/>
                </a:solidFill>
              </a:rPr>
              <a:t>Préparer</a:t>
            </a:r>
            <a:r>
              <a:rPr lang="en-US" i="1" dirty="0">
                <a:solidFill>
                  <a:srgbClr val="94A3B8"/>
                </a:solidFill>
              </a:rPr>
              <a:t> par: EL KHIZANI NOOUMANE</a:t>
            </a:r>
            <a:endParaRPr 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9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4232E"/>
          </a:solidFill>
          <a:ln w="12700">
            <a:solidFill>
              <a:srgbClr val="14232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73152" cy="1005840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</a:rPr>
              <a:t>Architecture MVC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7772400" y="0"/>
            <a:ext cx="1188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4A3B8"/>
                </a:solidFill>
              </a:rPr>
              <a:t>Slide 02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228600" y="1234440"/>
            <a:ext cx="2011680" cy="3291840"/>
          </a:xfrm>
          <a:prstGeom prst="rect">
            <a:avLst/>
          </a:prstGeom>
          <a:solidFill>
            <a:srgbClr val="1E3448"/>
          </a:solidFill>
          <a:ln w="12700">
            <a:solidFill>
              <a:srgbClr val="2D4A63"/>
            </a:solidFill>
            <a:prstDash val="solid"/>
          </a:ln>
          <a:effectLst>
            <a:outerShdw blurRad="127000" dist="508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28600" y="1234440"/>
            <a:ext cx="2011680" cy="109728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14400" y="1417320"/>
            <a:ext cx="640080" cy="640080"/>
          </a:xfrm>
          <a:prstGeom prst="ellipse">
            <a:avLst/>
          </a:prstGeom>
          <a:solidFill>
            <a:srgbClr val="06B6D4">
              <a:alpha val="80000"/>
            </a:srgbClr>
          </a:solidFill>
          <a:ln w="19050">
            <a:solidFill>
              <a:srgbClr val="06B6D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14400" y="14173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1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320040" y="224028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6B6D4"/>
                </a:solidFill>
              </a:rPr>
              <a:t>Model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338328" y="2788920"/>
            <a:ext cx="1828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F0F4F8"/>
                </a:solidFill>
              </a:rPr>
              <a:t>Gestion base de données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F0F4F8"/>
                </a:solidFill>
              </a:rPr>
              <a:t>Relations Eloquent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2459736" y="1234440"/>
            <a:ext cx="2011680" cy="3291840"/>
          </a:xfrm>
          <a:prstGeom prst="rect">
            <a:avLst/>
          </a:prstGeom>
          <a:solidFill>
            <a:srgbClr val="1E3448"/>
          </a:solidFill>
          <a:ln w="12700">
            <a:solidFill>
              <a:srgbClr val="2D4A63"/>
            </a:solidFill>
            <a:prstDash val="solid"/>
          </a:ln>
          <a:effectLst>
            <a:outerShdw blurRad="127000" dist="508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459736" y="1234440"/>
            <a:ext cx="2011680" cy="109728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145536" y="1417320"/>
            <a:ext cx="640080" cy="640080"/>
          </a:xfrm>
          <a:prstGeom prst="ellipse">
            <a:avLst/>
          </a:prstGeom>
          <a:solidFill>
            <a:srgbClr val="F4A261">
              <a:alpha val="80000"/>
            </a:srgbClr>
          </a:solidFill>
          <a:ln w="19050">
            <a:solidFill>
              <a:srgbClr val="F4A26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145536" y="14173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2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2551176" y="224028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4A261"/>
                </a:solidFill>
              </a:rPr>
              <a:t>View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2569464" y="2788920"/>
            <a:ext cx="1828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F0F4F8"/>
                </a:solidFill>
              </a:rPr>
              <a:t>Interface utilisateur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F0F4F8"/>
                </a:solidFill>
              </a:rPr>
              <a:t>Templates Blade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4690872" y="1234440"/>
            <a:ext cx="2011680" cy="3291840"/>
          </a:xfrm>
          <a:prstGeom prst="rect">
            <a:avLst/>
          </a:prstGeom>
          <a:solidFill>
            <a:srgbClr val="1E3448"/>
          </a:solidFill>
          <a:ln w="12700">
            <a:solidFill>
              <a:srgbClr val="2D4A63"/>
            </a:solidFill>
            <a:prstDash val="solid"/>
          </a:ln>
          <a:effectLst>
            <a:outerShdw blurRad="127000" dist="508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690872" y="1234440"/>
            <a:ext cx="2011680" cy="109728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376672" y="1417320"/>
            <a:ext cx="640080" cy="640080"/>
          </a:xfrm>
          <a:prstGeom prst="ellipse">
            <a:avLst/>
          </a:prstGeom>
          <a:solidFill>
            <a:srgbClr val="E63946">
              <a:alpha val="80000"/>
            </a:srgbClr>
          </a:solidFill>
          <a:ln w="19050">
            <a:solidFill>
              <a:srgbClr val="E6394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376672" y="14173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3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4782312" y="224028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E63946"/>
                </a:solidFill>
              </a:rPr>
              <a:t>Controller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4800600" y="2788920"/>
            <a:ext cx="1828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F0F4F8"/>
                </a:solidFill>
              </a:rPr>
              <a:t>Logique métier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F0F4F8"/>
                </a:solidFill>
              </a:rPr>
              <a:t>Traitement requêtes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6922008" y="1234440"/>
            <a:ext cx="2011680" cy="3291840"/>
          </a:xfrm>
          <a:prstGeom prst="rect">
            <a:avLst/>
          </a:prstGeom>
          <a:solidFill>
            <a:srgbClr val="1E3448"/>
          </a:solidFill>
          <a:ln w="12700">
            <a:solidFill>
              <a:srgbClr val="2D4A63"/>
            </a:solidFill>
            <a:prstDash val="solid"/>
          </a:ln>
          <a:effectLst>
            <a:outerShdw blurRad="127000" dist="508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922008" y="1234440"/>
            <a:ext cx="2011680" cy="109728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7607808" y="1417320"/>
            <a:ext cx="640080" cy="640080"/>
          </a:xfrm>
          <a:prstGeom prst="ellipse">
            <a:avLst/>
          </a:prstGeom>
          <a:solidFill>
            <a:srgbClr val="8B5CF6">
              <a:alpha val="80000"/>
            </a:srgbClr>
          </a:solidFill>
          <a:ln w="19050">
            <a:solidFill>
              <a:srgbClr val="8B5CF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607808" y="14173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4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7013448" y="224028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8B5CF6"/>
                </a:solidFill>
              </a:rPr>
              <a:t>Middleware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7031736" y="2788920"/>
            <a:ext cx="1828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F0F4F8"/>
                </a:solidFill>
              </a:rPr>
              <a:t>Sécurité &amp; rôles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F0F4F8"/>
                </a:solidFill>
              </a:rPr>
              <a:t>Protection des routes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2267712" y="2834640"/>
            <a:ext cx="182880" cy="73152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498848" y="2834640"/>
            <a:ext cx="182880" cy="73152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729984" y="2834640"/>
            <a:ext cx="182880" cy="73152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9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4232E"/>
          </a:solidFill>
          <a:ln w="12700">
            <a:solidFill>
              <a:srgbClr val="14232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73152" cy="100584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</a:rPr>
              <a:t>Base de Données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7772400" y="0"/>
            <a:ext cx="1188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4A3B8"/>
                </a:solidFill>
              </a:rPr>
              <a:t>Slide 03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274320" y="1234440"/>
            <a:ext cx="5029200" cy="713232"/>
          </a:xfrm>
          <a:prstGeom prst="rect">
            <a:avLst/>
          </a:prstGeom>
          <a:solidFill>
            <a:srgbClr val="1E3448"/>
          </a:solidFill>
          <a:ln w="12700">
            <a:solidFill>
              <a:srgbClr val="2D4A63"/>
            </a:solidFill>
            <a:prstDash val="solid"/>
          </a:ln>
          <a:effectLst>
            <a:outerShdw blurRad="127000" dist="508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1234440"/>
            <a:ext cx="64008" cy="713232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1289304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6B6D4"/>
                </a:solidFill>
              </a:rPr>
              <a:t>cars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02920" y="158191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</a:rPr>
              <a:t>Véhicules disponibles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74320" y="2103120"/>
            <a:ext cx="5029200" cy="713232"/>
          </a:xfrm>
          <a:prstGeom prst="rect">
            <a:avLst/>
          </a:prstGeom>
          <a:solidFill>
            <a:srgbClr val="1E3448"/>
          </a:solidFill>
          <a:ln w="12700">
            <a:solidFill>
              <a:srgbClr val="2D4A63"/>
            </a:solidFill>
            <a:prstDash val="solid"/>
          </a:ln>
          <a:effectLst>
            <a:outerShdw blurRad="127000" dist="508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74320" y="2103120"/>
            <a:ext cx="64008" cy="713232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02920" y="2157984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4A261"/>
                </a:solidFill>
              </a:rPr>
              <a:t>clients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02920" y="245059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</a:rPr>
              <a:t>Données clients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74320" y="2971800"/>
            <a:ext cx="5029200" cy="713232"/>
          </a:xfrm>
          <a:prstGeom prst="rect">
            <a:avLst/>
          </a:prstGeom>
          <a:solidFill>
            <a:srgbClr val="1E3448"/>
          </a:solidFill>
          <a:ln w="12700">
            <a:solidFill>
              <a:srgbClr val="2D4A63"/>
            </a:solidFill>
            <a:prstDash val="solid"/>
          </a:ln>
          <a:effectLst>
            <a:outerShdw blurRad="127000" dist="508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274320" y="2971800"/>
            <a:ext cx="64008" cy="713232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02920" y="3026664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63946"/>
                </a:solidFill>
              </a:rPr>
              <a:t>reservations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502920" y="331927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</a:rPr>
              <a:t>Gestion des locations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274320" y="3840480"/>
            <a:ext cx="5029200" cy="713232"/>
          </a:xfrm>
          <a:prstGeom prst="rect">
            <a:avLst/>
          </a:prstGeom>
          <a:solidFill>
            <a:srgbClr val="1E3448"/>
          </a:solidFill>
          <a:ln w="12700">
            <a:solidFill>
              <a:srgbClr val="2D4A63"/>
            </a:solidFill>
            <a:prstDash val="solid"/>
          </a:ln>
          <a:effectLst>
            <a:outerShdw blurRad="127000" dist="508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274320" y="3840480"/>
            <a:ext cx="64008" cy="713232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02920" y="3895344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8B5CF6"/>
                </a:solidFill>
              </a:rPr>
              <a:t>users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502920" y="418795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</a:rPr>
              <a:t>Comptes utilisateurs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5669280" y="1234440"/>
            <a:ext cx="3200400" cy="3474720"/>
          </a:xfrm>
          <a:prstGeom prst="rect">
            <a:avLst/>
          </a:prstGeom>
          <a:solidFill>
            <a:srgbClr val="1E3448"/>
          </a:solidFill>
          <a:ln w="12700">
            <a:solidFill>
              <a:srgbClr val="2D4A63"/>
            </a:solidFill>
            <a:prstDash val="solid"/>
          </a:ln>
          <a:effectLst>
            <a:outerShdw blurRad="127000" dist="508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5806440" y="137160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6B6D4"/>
                </a:solidFill>
              </a:rPr>
              <a:t>Relations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5806440" y="1828800"/>
            <a:ext cx="2926080" cy="0"/>
          </a:xfrm>
          <a:prstGeom prst="line">
            <a:avLst/>
          </a:prstGeom>
          <a:noFill/>
          <a:ln w="10160">
            <a:solidFill>
              <a:srgbClr val="2D4A63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852160" y="196596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F0F4F8"/>
                </a:solidFill>
              </a:rPr>
              <a:t>cars ──── reservations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5852160" y="256032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F0F4F8"/>
                </a:solidFill>
              </a:rPr>
              <a:t>clients ──── reservations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5852160" y="315468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F0F4F8"/>
                </a:solidFill>
              </a:rPr>
              <a:t>users ──── logs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5852160" y="374904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i="1" dirty="0">
                <a:solidFill>
                  <a:srgbClr val="F4A261"/>
                </a:solidFill>
              </a:rPr>
              <a:t>Clés étrangères FK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9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4232E"/>
          </a:solidFill>
          <a:ln w="12700">
            <a:solidFill>
              <a:srgbClr val="14232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73152" cy="1005840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</a:rPr>
              <a:t>Fonctionnalités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228600" y="1188720"/>
            <a:ext cx="2743200" cy="1508760"/>
          </a:xfrm>
          <a:prstGeom prst="rect">
            <a:avLst/>
          </a:prstGeom>
          <a:solidFill>
            <a:srgbClr val="1E3448"/>
          </a:solidFill>
          <a:ln w="12700">
            <a:solidFill>
              <a:srgbClr val="2D4A63"/>
            </a:solidFill>
            <a:prstDash val="solid"/>
          </a:ln>
          <a:effectLst>
            <a:outerShdw blurRad="127000" dist="508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371600"/>
            <a:ext cx="594360" cy="594360"/>
          </a:xfrm>
          <a:prstGeom prst="ellipse">
            <a:avLst/>
          </a:prstGeom>
          <a:solidFill>
            <a:srgbClr val="E63946">
              <a:alpha val="80000"/>
            </a:srgbClr>
          </a:solidFill>
          <a:ln w="19050">
            <a:solidFill>
              <a:srgbClr val="E6394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37160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🔐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051560" y="137160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63946"/>
                </a:solidFill>
              </a:rPr>
              <a:t>Login Sécurisé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65760" y="201168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</a:rPr>
              <a:t>Authentification robuste avec sessions Laravel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3154680" y="1188720"/>
            <a:ext cx="2743200" cy="1508760"/>
          </a:xfrm>
          <a:prstGeom prst="rect">
            <a:avLst/>
          </a:prstGeom>
          <a:solidFill>
            <a:srgbClr val="1E3448"/>
          </a:solidFill>
          <a:ln w="12700">
            <a:solidFill>
              <a:srgbClr val="2D4A63"/>
            </a:solidFill>
            <a:prstDash val="solid"/>
          </a:ln>
          <a:effectLst>
            <a:outerShdw blurRad="127000" dist="508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91840" y="1371600"/>
            <a:ext cx="594360" cy="594360"/>
          </a:xfrm>
          <a:prstGeom prst="ellipse">
            <a:avLst/>
          </a:prstGeom>
          <a:solidFill>
            <a:srgbClr val="06B6D4">
              <a:alpha val="80000"/>
            </a:srgbClr>
          </a:solidFill>
          <a:ln w="19050">
            <a:solidFill>
              <a:srgbClr val="06B6D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91840" y="137160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🚗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3977640" y="137160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6B6D4"/>
                </a:solidFill>
              </a:rPr>
              <a:t>Gestion Voitures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291840" y="201168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</a:rPr>
              <a:t>Ajout, modification, suppression des véhicules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6080760" y="1188720"/>
            <a:ext cx="2743200" cy="1508760"/>
          </a:xfrm>
          <a:prstGeom prst="rect">
            <a:avLst/>
          </a:prstGeom>
          <a:solidFill>
            <a:srgbClr val="1E3448"/>
          </a:solidFill>
          <a:ln w="12700">
            <a:solidFill>
              <a:srgbClr val="2D4A63"/>
            </a:solidFill>
            <a:prstDash val="solid"/>
          </a:ln>
          <a:effectLst>
            <a:outerShdw blurRad="127000" dist="508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217920" y="1371600"/>
            <a:ext cx="594360" cy="594360"/>
          </a:xfrm>
          <a:prstGeom prst="ellipse">
            <a:avLst/>
          </a:prstGeom>
          <a:solidFill>
            <a:srgbClr val="F4A261">
              <a:alpha val="80000"/>
            </a:srgbClr>
          </a:solidFill>
          <a:ln w="19050">
            <a:solidFill>
              <a:srgbClr val="F4A26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217920" y="137160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👥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6903720" y="137160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4A261"/>
                </a:solidFill>
              </a:rPr>
              <a:t>Gestion Clients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217920" y="201168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</a:rPr>
              <a:t>Base clients complète avec historique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1691640" y="2926080"/>
            <a:ext cx="2743200" cy="1508760"/>
          </a:xfrm>
          <a:prstGeom prst="rect">
            <a:avLst/>
          </a:prstGeom>
          <a:solidFill>
            <a:srgbClr val="1E3448"/>
          </a:solidFill>
          <a:ln w="12700">
            <a:solidFill>
              <a:srgbClr val="2D4A63"/>
            </a:solidFill>
            <a:prstDash val="solid"/>
          </a:ln>
          <a:effectLst>
            <a:outerShdw blurRad="127000" dist="508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1828800" y="3108960"/>
            <a:ext cx="594360" cy="594360"/>
          </a:xfrm>
          <a:prstGeom prst="ellipse">
            <a:avLst/>
          </a:prstGeom>
          <a:solidFill>
            <a:srgbClr val="8B5CF6">
              <a:alpha val="80000"/>
            </a:srgbClr>
          </a:solidFill>
          <a:ln w="19050">
            <a:solidFill>
              <a:srgbClr val="8B5CF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828800" y="310896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📅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2514600" y="310896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8B5CF6"/>
                </a:solidFill>
              </a:rPr>
              <a:t>Réservations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1828800" y="374904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</a:rPr>
              <a:t>Workflow de réservation de A à Z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4617720" y="2926080"/>
            <a:ext cx="2743200" cy="1508760"/>
          </a:xfrm>
          <a:prstGeom prst="rect">
            <a:avLst/>
          </a:prstGeom>
          <a:solidFill>
            <a:srgbClr val="1E3448"/>
          </a:solidFill>
          <a:ln w="12700">
            <a:solidFill>
              <a:srgbClr val="2D4A63"/>
            </a:solidFill>
            <a:prstDash val="solid"/>
          </a:ln>
          <a:effectLst>
            <a:outerShdw blurRad="127000" dist="508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754880" y="3108960"/>
            <a:ext cx="594360" cy="594360"/>
          </a:xfrm>
          <a:prstGeom prst="ellipse">
            <a:avLst/>
          </a:prstGeom>
          <a:solidFill>
            <a:srgbClr val="10B981">
              <a:alpha val="80000"/>
            </a:srgbClr>
          </a:solidFill>
          <a:ln w="19050">
            <a:solidFill>
              <a:srgbClr val="10B98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754880" y="310896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📊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5440680" y="310896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0B981"/>
                </a:solidFill>
              </a:rPr>
              <a:t>Dashboard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4754880" y="374904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</a:rPr>
              <a:t>Vue synthétique et statistiques en temps réel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9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4232E"/>
          </a:solidFill>
          <a:ln w="12700">
            <a:solidFill>
              <a:srgbClr val="14232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73152" cy="1005840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</a:rPr>
              <a:t>Workflow Réservation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182880" y="1234440"/>
            <a:ext cx="1554480" cy="3246120"/>
          </a:xfrm>
          <a:prstGeom prst="rect">
            <a:avLst/>
          </a:prstGeom>
          <a:solidFill>
            <a:srgbClr val="1E3448"/>
          </a:solidFill>
          <a:ln w="12700">
            <a:solidFill>
              <a:srgbClr val="2D4A63"/>
            </a:solidFill>
            <a:prstDash val="solid"/>
          </a:ln>
          <a:effectLst>
            <a:outerShdw blurRad="127000" dist="508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82880" y="1234440"/>
            <a:ext cx="1554480" cy="91440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40080" y="1463040"/>
            <a:ext cx="640080" cy="640080"/>
          </a:xfrm>
          <a:prstGeom prst="ellipse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14630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01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256032" y="2286000"/>
            <a:ext cx="1417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Choisir Voiture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256032" y="2880360"/>
            <a:ext cx="1417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94A3B8"/>
                </a:solidFill>
              </a:rPr>
              <a:t>Sélection parmi les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94A3B8"/>
                </a:solidFill>
              </a:rPr>
              <a:t>véhicules disponibles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1764792" y="1773936"/>
            <a:ext cx="164592" cy="54864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965960" y="1234440"/>
            <a:ext cx="1554480" cy="3246120"/>
          </a:xfrm>
          <a:prstGeom prst="rect">
            <a:avLst/>
          </a:prstGeom>
          <a:solidFill>
            <a:srgbClr val="1E3448"/>
          </a:solidFill>
          <a:ln w="12700">
            <a:solidFill>
              <a:srgbClr val="2D4A63"/>
            </a:solidFill>
            <a:prstDash val="solid"/>
          </a:ln>
          <a:effectLst>
            <a:outerShdw blurRad="127000" dist="508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1965960" y="1234440"/>
            <a:ext cx="1554480" cy="91440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423160" y="1463040"/>
            <a:ext cx="640080" cy="640080"/>
          </a:xfrm>
          <a:prstGeom prst="ellipse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423160" y="14630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02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2039112" y="2286000"/>
            <a:ext cx="1417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Sélection Client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2039112" y="2880360"/>
            <a:ext cx="1417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94A3B8"/>
                </a:solidFill>
              </a:rPr>
              <a:t>Identification du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94A3B8"/>
                </a:solidFill>
              </a:rPr>
              <a:t>client concerné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3547872" y="1773936"/>
            <a:ext cx="164592" cy="54864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749040" y="1234440"/>
            <a:ext cx="1554480" cy="3246120"/>
          </a:xfrm>
          <a:prstGeom prst="rect">
            <a:avLst/>
          </a:prstGeom>
          <a:solidFill>
            <a:srgbClr val="1E3448"/>
          </a:solidFill>
          <a:ln w="12700">
            <a:solidFill>
              <a:srgbClr val="2D4A63"/>
            </a:solidFill>
            <a:prstDash val="solid"/>
          </a:ln>
          <a:effectLst>
            <a:outerShdw blurRad="127000" dist="508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749040" y="1234440"/>
            <a:ext cx="1554480" cy="91440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206240" y="1463040"/>
            <a:ext cx="640080" cy="640080"/>
          </a:xfrm>
          <a:prstGeom prst="ellipse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206240" y="14630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03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3822192" y="2286000"/>
            <a:ext cx="1417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Dates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3822192" y="2880360"/>
            <a:ext cx="1417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94A3B8"/>
                </a:solidFill>
              </a:rPr>
              <a:t>Définir la période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94A3B8"/>
                </a:solidFill>
              </a:rPr>
              <a:t>de location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5330952" y="1773936"/>
            <a:ext cx="164592" cy="54864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532120" y="1234440"/>
            <a:ext cx="1554480" cy="3246120"/>
          </a:xfrm>
          <a:prstGeom prst="rect">
            <a:avLst/>
          </a:prstGeom>
          <a:solidFill>
            <a:srgbClr val="1E3448"/>
          </a:solidFill>
          <a:ln w="12700">
            <a:solidFill>
              <a:srgbClr val="2D4A63"/>
            </a:solidFill>
            <a:prstDash val="solid"/>
          </a:ln>
          <a:effectLst>
            <a:outerShdw blurRad="127000" dist="508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5532120" y="1234440"/>
            <a:ext cx="1554480" cy="91440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5989320" y="1463040"/>
            <a:ext cx="640080" cy="640080"/>
          </a:xfrm>
          <a:prstGeom prst="ellipse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989320" y="14630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04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5605272" y="2286000"/>
            <a:ext cx="1417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Validation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5605272" y="2880360"/>
            <a:ext cx="1417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94A3B8"/>
                </a:solidFill>
              </a:rPr>
              <a:t>Confirmation et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94A3B8"/>
                </a:solidFill>
              </a:rPr>
              <a:t>enregistrement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7114032" y="1773936"/>
            <a:ext cx="164592" cy="54864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7315200" y="1234440"/>
            <a:ext cx="1554480" cy="3246120"/>
          </a:xfrm>
          <a:prstGeom prst="rect">
            <a:avLst/>
          </a:prstGeom>
          <a:solidFill>
            <a:srgbClr val="1E3448"/>
          </a:solidFill>
          <a:ln w="12700">
            <a:solidFill>
              <a:srgbClr val="2D4A63"/>
            </a:solidFill>
            <a:prstDash val="solid"/>
          </a:ln>
          <a:effectLst>
            <a:outerShdw blurRad="127000" dist="508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7315200" y="1234440"/>
            <a:ext cx="1554480" cy="91440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7772400" y="1463040"/>
            <a:ext cx="640080" cy="640080"/>
          </a:xfrm>
          <a:prstGeom prst="ellipse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772400" y="14630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05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7388352" y="2286000"/>
            <a:ext cx="1417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Mise à Jour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7388352" y="2880360"/>
            <a:ext cx="1417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94A3B8"/>
                </a:solidFill>
              </a:rPr>
              <a:t>Statut véhicule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94A3B8"/>
                </a:solidFill>
              </a:rPr>
              <a:t>automatiquement mis à jour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9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4232E"/>
          </a:solidFill>
          <a:ln w="12700">
            <a:solidFill>
              <a:srgbClr val="14232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73152" cy="100584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</a:rPr>
              <a:t>Rôles &amp; Sécurité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320040" y="1188720"/>
            <a:ext cx="4023360" cy="3566160"/>
          </a:xfrm>
          <a:prstGeom prst="rect">
            <a:avLst/>
          </a:prstGeom>
          <a:solidFill>
            <a:srgbClr val="1E3448"/>
          </a:solidFill>
          <a:ln w="19050">
            <a:solidFill>
              <a:srgbClr val="E63946"/>
            </a:solidFill>
            <a:prstDash val="solid"/>
          </a:ln>
          <a:effectLst>
            <a:outerShdw blurRad="127000" dist="508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188720"/>
            <a:ext cx="4023360" cy="109728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37160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E63946"/>
                </a:solidFill>
              </a:rPr>
              <a:t>Admin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2788920" y="1444752"/>
            <a:ext cx="1371600" cy="320040"/>
          </a:xfrm>
          <a:prstGeom prst="rect">
            <a:avLst/>
          </a:prstGeom>
          <a:solidFill>
            <a:srgbClr val="E63946">
              <a:alpha val="25000"/>
            </a:srgbClr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788920" y="1444752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Accès Total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502920" y="1965960"/>
            <a:ext cx="3657600" cy="0"/>
          </a:xfrm>
          <a:prstGeom prst="line">
            <a:avLst/>
          </a:prstGeom>
          <a:noFill/>
          <a:ln w="10160">
            <a:solidFill>
              <a:srgbClr val="2D4A63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02920" y="2167128"/>
            <a:ext cx="201168" cy="201168"/>
          </a:xfrm>
          <a:prstGeom prst="ellipse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22960" y="2103120"/>
            <a:ext cx="3337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0F4F8"/>
                </a:solidFill>
              </a:rPr>
              <a:t>Gestion complète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0F4F8"/>
                </a:solidFill>
              </a:rPr>
              <a:t>des utilisateurs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502920" y="2852928"/>
            <a:ext cx="201168" cy="201168"/>
          </a:xfrm>
          <a:prstGeom prst="ellipse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2960" y="2788920"/>
            <a:ext cx="3337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0F4F8"/>
                </a:solidFill>
              </a:rPr>
              <a:t>Configuration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0F4F8"/>
                </a:solidFill>
              </a:rPr>
              <a:t>du système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502920" y="3538728"/>
            <a:ext cx="201168" cy="201168"/>
          </a:xfrm>
          <a:prstGeom prst="ellipse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22960" y="3474720"/>
            <a:ext cx="3337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0F4F8"/>
                </a:solidFill>
              </a:rPr>
              <a:t>Tous les modules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0F4F8"/>
                </a:solidFill>
              </a:rPr>
              <a:t>activés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502920" y="4224528"/>
            <a:ext cx="201168" cy="201168"/>
          </a:xfrm>
          <a:prstGeom prst="ellipse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22960" y="4160520"/>
            <a:ext cx="3337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0F4F8"/>
                </a:solidFill>
              </a:rPr>
              <a:t>Rapports complets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4709160" y="1188720"/>
            <a:ext cx="4023360" cy="3566160"/>
          </a:xfrm>
          <a:prstGeom prst="rect">
            <a:avLst/>
          </a:prstGeom>
          <a:solidFill>
            <a:srgbClr val="1E3448"/>
          </a:solidFill>
          <a:ln w="19050">
            <a:solidFill>
              <a:srgbClr val="06B6D4"/>
            </a:solidFill>
            <a:prstDash val="solid"/>
          </a:ln>
          <a:effectLst>
            <a:outerShdw blurRad="127000" dist="508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709160" y="1188720"/>
            <a:ext cx="4023360" cy="109728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892040" y="137160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6B6D4"/>
                </a:solidFill>
              </a:rPr>
              <a:t>Manager</a:t>
            </a:r>
            <a:endParaRPr lang="en-US" sz="2200" dirty="0"/>
          </a:p>
        </p:txBody>
      </p:sp>
      <p:sp>
        <p:nvSpPr>
          <p:cNvPr id="22" name="Shape 20"/>
          <p:cNvSpPr/>
          <p:nvPr/>
        </p:nvSpPr>
        <p:spPr>
          <a:xfrm>
            <a:off x="7178040" y="1444752"/>
            <a:ext cx="1371600" cy="320040"/>
          </a:xfrm>
          <a:prstGeom prst="rect">
            <a:avLst/>
          </a:prstGeom>
          <a:solidFill>
            <a:srgbClr val="06B6D4">
              <a:alpha val="25000"/>
            </a:srgbClr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178040" y="1444752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Accès Limité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4892040" y="1965960"/>
            <a:ext cx="3657600" cy="0"/>
          </a:xfrm>
          <a:prstGeom prst="line">
            <a:avLst/>
          </a:prstGeom>
          <a:noFill/>
          <a:ln w="10160">
            <a:solidFill>
              <a:srgbClr val="2D4A63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892040" y="2167128"/>
            <a:ext cx="201168" cy="201168"/>
          </a:xfrm>
          <a:prstGeom prst="ellipse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212080" y="2103120"/>
            <a:ext cx="3337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0F4F8"/>
                </a:solidFill>
              </a:rPr>
              <a:t>Gestion des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0F4F8"/>
                </a:solidFill>
              </a:rPr>
              <a:t>réservations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4892040" y="2852928"/>
            <a:ext cx="201168" cy="201168"/>
          </a:xfrm>
          <a:prstGeom prst="ellipse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212080" y="2788920"/>
            <a:ext cx="3337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0F4F8"/>
                </a:solidFill>
              </a:rPr>
              <a:t>Gestion clients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0F4F8"/>
                </a:solidFill>
              </a:rPr>
              <a:t>et voitures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4892040" y="3538728"/>
            <a:ext cx="201168" cy="201168"/>
          </a:xfrm>
          <a:prstGeom prst="ellipse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212080" y="3474720"/>
            <a:ext cx="3337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0F4F8"/>
                </a:solidFill>
              </a:rPr>
              <a:t>Dashboard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0F4F8"/>
                </a:solidFill>
              </a:rPr>
              <a:t>limité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4892040" y="4224528"/>
            <a:ext cx="201168" cy="201168"/>
          </a:xfrm>
          <a:prstGeom prst="ellipse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212080" y="4160520"/>
            <a:ext cx="3337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0F4F8"/>
                </a:solidFill>
              </a:rPr>
              <a:t>Pas de config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0F4F8"/>
                </a:solidFill>
              </a:rPr>
              <a:t>système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1645920" y="4617720"/>
            <a:ext cx="5852160" cy="384048"/>
          </a:xfrm>
          <a:prstGeom prst="rect">
            <a:avLst/>
          </a:prstGeom>
          <a:solidFill>
            <a:srgbClr val="1A1A2E"/>
          </a:solidFill>
          <a:ln w="6350">
            <a:solidFill>
              <a:srgbClr val="94A3B8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1645920" y="4617720"/>
            <a:ext cx="5852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94A3B8"/>
                </a:solidFill>
              </a:rPr>
              <a:t>⚡  Laravel Middleware · Protection des routes · Guards d'authentification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9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4232E"/>
          </a:solidFill>
          <a:ln w="12700">
            <a:solidFill>
              <a:srgbClr val="14232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73152" cy="1005840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</a:rPr>
              <a:t>UI / UX Design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274320" y="1188720"/>
            <a:ext cx="4206240" cy="1600200"/>
          </a:xfrm>
          <a:prstGeom prst="rect">
            <a:avLst/>
          </a:prstGeom>
          <a:solidFill>
            <a:srgbClr val="1E3448"/>
          </a:solidFill>
          <a:ln w="12700">
            <a:solidFill>
              <a:srgbClr val="2D4A63"/>
            </a:solidFill>
            <a:prstDash val="solid"/>
          </a:ln>
          <a:effectLst>
            <a:outerShdw blurRad="127000" dist="508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11480" y="146304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dirty="0">
                <a:solidFill>
                  <a:srgbClr val="000000"/>
                </a:solidFill>
              </a:rPr>
              <a:t>🎨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1325880" y="137160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4A261"/>
                </a:solidFill>
              </a:rPr>
              <a:t>Design Moderne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325880" y="1828800"/>
            <a:ext cx="2926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</a:rPr>
              <a:t>Interface épurée, typographie claire, hiérarchie visuelle forte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709160" y="1188720"/>
            <a:ext cx="4206240" cy="1600200"/>
          </a:xfrm>
          <a:prstGeom prst="rect">
            <a:avLst/>
          </a:prstGeom>
          <a:solidFill>
            <a:srgbClr val="1E3448"/>
          </a:solidFill>
          <a:ln w="12700">
            <a:solidFill>
              <a:srgbClr val="2D4A63"/>
            </a:solidFill>
            <a:prstDash val="solid"/>
          </a:ln>
          <a:effectLst>
            <a:outerShdw blurRad="127000" dist="508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846320" y="146304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dirty="0">
                <a:solidFill>
                  <a:srgbClr val="000000"/>
                </a:solidFill>
              </a:rPr>
              <a:t>📱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5760720" y="137160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4A261"/>
                </a:solidFill>
              </a:rPr>
              <a:t>Responsive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5760720" y="1828800"/>
            <a:ext cx="2926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</a:rPr>
              <a:t>Adapté desktop, tablette et mobile avec breakpoints CSS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74320" y="3017520"/>
            <a:ext cx="4206240" cy="1600200"/>
          </a:xfrm>
          <a:prstGeom prst="rect">
            <a:avLst/>
          </a:prstGeom>
          <a:solidFill>
            <a:srgbClr val="1E3448"/>
          </a:solidFill>
          <a:ln w="12700">
            <a:solidFill>
              <a:srgbClr val="2D4A63"/>
            </a:solidFill>
            <a:prstDash val="solid"/>
          </a:ln>
          <a:effectLst>
            <a:outerShdw blurRad="127000" dist="508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11480" y="329184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dirty="0">
                <a:solidFill>
                  <a:srgbClr val="000000"/>
                </a:solidFill>
              </a:rPr>
              <a:t>⚡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1325880" y="320040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4A261"/>
                </a:solidFill>
              </a:rPr>
              <a:t>Expérience Fluide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1325880" y="3657600"/>
            <a:ext cx="2926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</a:rPr>
              <a:t>Navigation intuitive, temps de réponse optimisé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709160" y="3017520"/>
            <a:ext cx="4206240" cy="1600200"/>
          </a:xfrm>
          <a:prstGeom prst="rect">
            <a:avLst/>
          </a:prstGeom>
          <a:solidFill>
            <a:srgbClr val="1E3448"/>
          </a:solidFill>
          <a:ln w="12700">
            <a:solidFill>
              <a:srgbClr val="2D4A63"/>
            </a:solidFill>
            <a:prstDash val="solid"/>
          </a:ln>
          <a:effectLst>
            <a:outerShdw blurRad="127000" dist="508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4846320" y="329184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dirty="0">
                <a:solidFill>
                  <a:srgbClr val="000000"/>
                </a:solidFill>
              </a:rPr>
              <a:t>🌐</a:t>
            </a:r>
            <a:endParaRPr lang="en-US" sz="3000" dirty="0"/>
          </a:p>
        </p:txBody>
      </p:sp>
      <p:sp>
        <p:nvSpPr>
          <p:cNvPr id="19" name="Text 17"/>
          <p:cNvSpPr/>
          <p:nvPr/>
        </p:nvSpPr>
        <p:spPr>
          <a:xfrm>
            <a:off x="5760720" y="320040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4A261"/>
                </a:solidFill>
              </a:rPr>
              <a:t>100% Français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5760720" y="3657600"/>
            <a:ext cx="2926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</a:rPr>
              <a:t>Interface entièrement localisée en langue française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9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4232E"/>
          </a:solidFill>
          <a:ln w="12700">
            <a:solidFill>
              <a:srgbClr val="14232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73152" cy="100584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</a:rPr>
              <a:t>Installation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274320" y="1280160"/>
            <a:ext cx="457200" cy="457200"/>
          </a:xfrm>
          <a:prstGeom prst="ellipse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12801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1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868680" y="1261872"/>
            <a:ext cx="5303520" cy="502920"/>
          </a:xfrm>
          <a:prstGeom prst="rect">
            <a:avLst/>
          </a:prstGeom>
          <a:solidFill>
            <a:srgbClr val="0A1628"/>
          </a:solidFill>
          <a:ln w="10160">
            <a:solidFill>
              <a:srgbClr val="06B6D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05840" y="1261872"/>
            <a:ext cx="5120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XAMPP + Composer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400800" y="1298448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94A3B8"/>
                </a:solidFill>
              </a:rPr>
              <a:t>Installer les prérequis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74320" y="2029968"/>
            <a:ext cx="457200" cy="457200"/>
          </a:xfrm>
          <a:prstGeom prst="ellipse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74320" y="20299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2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868680" y="2011680"/>
            <a:ext cx="5303520" cy="502920"/>
          </a:xfrm>
          <a:prstGeom prst="rect">
            <a:avLst/>
          </a:prstGeom>
          <a:solidFill>
            <a:srgbClr val="0A1628"/>
          </a:solidFill>
          <a:ln w="10160">
            <a:solidFill>
              <a:srgbClr val="06B6D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05840" y="2011680"/>
            <a:ext cx="5120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composer create-project laravel/laravel rentcar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400800" y="2048256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94A3B8"/>
                </a:solidFill>
              </a:rPr>
              <a:t>Créer le projet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274320" y="2779776"/>
            <a:ext cx="457200" cy="457200"/>
          </a:xfrm>
          <a:prstGeom prst="ellipse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74320" y="277977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3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868680" y="2761488"/>
            <a:ext cx="5303520" cy="502920"/>
          </a:xfrm>
          <a:prstGeom prst="rect">
            <a:avLst/>
          </a:prstGeom>
          <a:solidFill>
            <a:srgbClr val="0A1628"/>
          </a:solidFill>
          <a:ln w="10160">
            <a:solidFill>
              <a:srgbClr val="06B6D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05840" y="2761488"/>
            <a:ext cx="5120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Configurer .env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400800" y="2798064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94A3B8"/>
                </a:solidFill>
              </a:rPr>
              <a:t>Base de données &amp; settings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274320" y="3529584"/>
            <a:ext cx="457200" cy="457200"/>
          </a:xfrm>
          <a:prstGeom prst="ellipse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74320" y="352958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4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868680" y="3511296"/>
            <a:ext cx="5303520" cy="502920"/>
          </a:xfrm>
          <a:prstGeom prst="rect">
            <a:avLst/>
          </a:prstGeom>
          <a:solidFill>
            <a:srgbClr val="0A1628"/>
          </a:solidFill>
          <a:ln w="10160">
            <a:solidFill>
              <a:srgbClr val="06B6D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005840" y="3511296"/>
            <a:ext cx="5120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php artisan migrate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400800" y="3547872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94A3B8"/>
                </a:solidFill>
              </a:rPr>
              <a:t>Créer les tables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274320" y="4279392"/>
            <a:ext cx="457200" cy="457200"/>
          </a:xfrm>
          <a:prstGeom prst="ellipse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74320" y="42793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5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868680" y="4261104"/>
            <a:ext cx="5303520" cy="502920"/>
          </a:xfrm>
          <a:prstGeom prst="rect">
            <a:avLst/>
          </a:prstGeom>
          <a:solidFill>
            <a:srgbClr val="0A1628"/>
          </a:solidFill>
          <a:ln w="10160">
            <a:solidFill>
              <a:srgbClr val="06B6D4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005840" y="4261104"/>
            <a:ext cx="5120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php artisan serve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6400800" y="429768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94A3B8"/>
                </a:solidFill>
              </a:rPr>
              <a:t>Lancer le serveur local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19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4232E"/>
          </a:solidFill>
          <a:ln w="12700">
            <a:solidFill>
              <a:srgbClr val="14232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73152" cy="100584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</a:rPr>
              <a:t>Améliorations Futures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228600" y="1188720"/>
            <a:ext cx="2743200" cy="1463040"/>
          </a:xfrm>
          <a:prstGeom prst="rect">
            <a:avLst/>
          </a:prstGeom>
          <a:solidFill>
            <a:srgbClr val="1E3448"/>
          </a:solidFill>
          <a:ln w="12700">
            <a:solidFill>
              <a:srgbClr val="06B6D4"/>
            </a:solidFill>
            <a:prstDash val="solid"/>
          </a:ln>
          <a:effectLst>
            <a:outerShdw blurRad="127000" dist="508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365760" y="150876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📈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1188720" y="141732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6B6D4"/>
                </a:solidFill>
              </a:rPr>
              <a:t>Graphiques Statistiques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1188720" y="1965960"/>
            <a:ext cx="777240" cy="256032"/>
          </a:xfrm>
          <a:prstGeom prst="rect">
            <a:avLst/>
          </a:prstGeom>
          <a:solidFill>
            <a:srgbClr val="06B6D4">
              <a:alpha val="25000"/>
            </a:srgbClr>
          </a:solidFill>
          <a:ln w="6350">
            <a:solidFill>
              <a:srgbClr val="06B6D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188720" y="1965960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Phase 2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200400" y="1188720"/>
            <a:ext cx="2743200" cy="1463040"/>
          </a:xfrm>
          <a:prstGeom prst="rect">
            <a:avLst/>
          </a:prstGeom>
          <a:solidFill>
            <a:srgbClr val="1E3448"/>
          </a:solidFill>
          <a:ln w="12700">
            <a:solidFill>
              <a:srgbClr val="F4A261"/>
            </a:solidFill>
            <a:prstDash val="solid"/>
          </a:ln>
          <a:effectLst>
            <a:outerShdw blurRad="127000" dist="508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337560" y="150876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📄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4160520" y="141732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4A261"/>
                </a:solidFill>
              </a:rPr>
              <a:t>Factures PDF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160520" y="1965960"/>
            <a:ext cx="777240" cy="256032"/>
          </a:xfrm>
          <a:prstGeom prst="rect">
            <a:avLst/>
          </a:prstGeom>
          <a:solidFill>
            <a:srgbClr val="F4A261">
              <a:alpha val="25000"/>
            </a:srgbClr>
          </a:solidFill>
          <a:ln w="6350">
            <a:solidFill>
              <a:srgbClr val="F4A26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160520" y="1965960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Phase 2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6172200" y="1188720"/>
            <a:ext cx="2743200" cy="1463040"/>
          </a:xfrm>
          <a:prstGeom prst="rect">
            <a:avLst/>
          </a:prstGeom>
          <a:solidFill>
            <a:srgbClr val="1E3448"/>
          </a:solidFill>
          <a:ln w="12700">
            <a:solidFill>
              <a:srgbClr val="E63946"/>
            </a:solidFill>
            <a:prstDash val="solid"/>
          </a:ln>
          <a:effectLst>
            <a:outerShdw blurRad="127000" dist="508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309360" y="150876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💳</a:t>
            </a:r>
            <a:endParaRPr lang="en-US" sz="2600" dirty="0"/>
          </a:p>
        </p:txBody>
      </p:sp>
      <p:sp>
        <p:nvSpPr>
          <p:cNvPr id="17" name="Text 15"/>
          <p:cNvSpPr/>
          <p:nvPr/>
        </p:nvSpPr>
        <p:spPr>
          <a:xfrm>
            <a:off x="7132320" y="141732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63946"/>
                </a:solidFill>
              </a:rPr>
              <a:t>Paiement en Ligne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7132320" y="1965960"/>
            <a:ext cx="777240" cy="256032"/>
          </a:xfrm>
          <a:prstGeom prst="rect">
            <a:avLst/>
          </a:prstGeom>
          <a:solidFill>
            <a:srgbClr val="E63946">
              <a:alpha val="25000"/>
            </a:srgbClr>
          </a:solidFill>
          <a:ln w="6350">
            <a:solidFill>
              <a:srgbClr val="E6394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132320" y="1965960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Phase 3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548640" y="2880360"/>
            <a:ext cx="3474720" cy="1463040"/>
          </a:xfrm>
          <a:prstGeom prst="rect">
            <a:avLst/>
          </a:prstGeom>
          <a:solidFill>
            <a:srgbClr val="1E3448"/>
          </a:solidFill>
          <a:ln w="12700">
            <a:solidFill>
              <a:srgbClr val="8B5CF6"/>
            </a:solidFill>
            <a:prstDash val="solid"/>
          </a:ln>
          <a:effectLst>
            <a:outerShdw blurRad="127000" dist="508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685800" y="320040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📱</a:t>
            </a:r>
            <a:endParaRPr lang="en-US" sz="2600" dirty="0"/>
          </a:p>
        </p:txBody>
      </p:sp>
      <p:sp>
        <p:nvSpPr>
          <p:cNvPr id="22" name="Text 20"/>
          <p:cNvSpPr/>
          <p:nvPr/>
        </p:nvSpPr>
        <p:spPr>
          <a:xfrm>
            <a:off x="1508760" y="310896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8B5CF6"/>
                </a:solidFill>
              </a:rPr>
              <a:t>Application Mobile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1508760" y="3657600"/>
            <a:ext cx="777240" cy="256032"/>
          </a:xfrm>
          <a:prstGeom prst="rect">
            <a:avLst/>
          </a:prstGeom>
          <a:solidFill>
            <a:srgbClr val="8B5CF6">
              <a:alpha val="25000"/>
            </a:srgbClr>
          </a:solidFill>
          <a:ln w="6350">
            <a:solidFill>
              <a:srgbClr val="8B5CF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508760" y="3657600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Phase 3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4937760" y="2880360"/>
            <a:ext cx="3474720" cy="1463040"/>
          </a:xfrm>
          <a:prstGeom prst="rect">
            <a:avLst/>
          </a:prstGeom>
          <a:solidFill>
            <a:srgbClr val="1E3448"/>
          </a:solidFill>
          <a:ln w="12700">
            <a:solidFill>
              <a:srgbClr val="10B981"/>
            </a:solidFill>
            <a:prstDash val="solid"/>
          </a:ln>
          <a:effectLst>
            <a:outerShdw blurRad="127000" dist="508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5074920" y="320040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☁️</a:t>
            </a:r>
            <a:endParaRPr lang="en-US" sz="2600" dirty="0"/>
          </a:p>
        </p:txBody>
      </p:sp>
      <p:sp>
        <p:nvSpPr>
          <p:cNvPr id="27" name="Text 25"/>
          <p:cNvSpPr/>
          <p:nvPr/>
        </p:nvSpPr>
        <p:spPr>
          <a:xfrm>
            <a:off x="5897880" y="310896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0B981"/>
                </a:solidFill>
              </a:rPr>
              <a:t>Déploiement Cloud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5897880" y="3657600"/>
            <a:ext cx="777240" cy="256032"/>
          </a:xfrm>
          <a:prstGeom prst="rect">
            <a:avLst/>
          </a:prstGeom>
          <a:solidFill>
            <a:srgbClr val="10B981">
              <a:alpha val="25000"/>
            </a:srgbClr>
          </a:solidFill>
          <a:ln w="6350">
            <a:solidFill>
              <a:srgbClr val="10B98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897880" y="3657600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Phase 4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19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0" y="-457200"/>
            <a:ext cx="3657600" cy="3200400"/>
          </a:xfrm>
          <a:prstGeom prst="rect">
            <a:avLst/>
          </a:prstGeom>
          <a:solidFill>
            <a:srgbClr val="E63946">
              <a:alpha val="10000"/>
            </a:srgbClr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583680" y="2560320"/>
            <a:ext cx="2926080" cy="3200400"/>
          </a:xfrm>
          <a:prstGeom prst="rect">
            <a:avLst/>
          </a:prstGeom>
          <a:solidFill>
            <a:srgbClr val="06B6D4">
              <a:alpha val="10000"/>
            </a:srgbClr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040" y="502920"/>
            <a:ext cx="640080" cy="320040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502920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kern="0" spc="300" dirty="0">
                <a:solidFill>
                  <a:srgbClr val="FFFFFF"/>
                </a:solidFill>
              </a:rPr>
              <a:t>FIN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320040" y="1005840"/>
            <a:ext cx="5486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4200" dirty="0"/>
          </a:p>
        </p:txBody>
      </p:sp>
      <p:sp>
        <p:nvSpPr>
          <p:cNvPr id="8" name="Shape 6"/>
          <p:cNvSpPr/>
          <p:nvPr/>
        </p:nvSpPr>
        <p:spPr>
          <a:xfrm>
            <a:off x="320040" y="1993392"/>
            <a:ext cx="411480" cy="411480"/>
          </a:xfrm>
          <a:prstGeom prst="ellipse">
            <a:avLst/>
          </a:prstGeom>
          <a:solidFill>
            <a:srgbClr val="1E3448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0040" y="199339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000000"/>
                </a:solidFill>
              </a:rPr>
              <a:t>✅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868680" y="201168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F0F4F8"/>
                </a:solidFill>
              </a:rPr>
              <a:t>Solution complète et opérationnelle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320040" y="2697480"/>
            <a:ext cx="411480" cy="411480"/>
          </a:xfrm>
          <a:prstGeom prst="ellipse">
            <a:avLst/>
          </a:prstGeom>
          <a:solidFill>
            <a:srgbClr val="1E3448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0040" y="26974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000000"/>
                </a:solidFill>
              </a:rPr>
              <a:t>🏗️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868680" y="2715768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F0F4F8"/>
                </a:solidFill>
              </a:rPr>
              <a:t>Architecture Laravel solide &amp; maintenable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320040" y="3401568"/>
            <a:ext cx="411480" cy="411480"/>
          </a:xfrm>
          <a:prstGeom prst="ellipse">
            <a:avLst/>
          </a:prstGeom>
          <a:solidFill>
            <a:srgbClr val="1E3448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20040" y="340156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000000"/>
                </a:solidFill>
              </a:rPr>
              <a:t>🔧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868680" y="3419856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F0F4F8"/>
                </a:solidFill>
              </a:rPr>
              <a:t>Facilement extensible selon les besoins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320040" y="4105656"/>
            <a:ext cx="411480" cy="411480"/>
          </a:xfrm>
          <a:prstGeom prst="ellipse">
            <a:avLst/>
          </a:prstGeom>
          <a:solidFill>
            <a:srgbClr val="1E3448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20040" y="4105656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000000"/>
                </a:solidFill>
              </a:rPr>
              <a:t>🚀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868680" y="4123944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F0F4F8"/>
                </a:solidFill>
              </a:rPr>
              <a:t>Prêt pour mise en production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320040" y="4709160"/>
            <a:ext cx="5029200" cy="0"/>
          </a:xfrm>
          <a:prstGeom prst="line">
            <a:avLst/>
          </a:prstGeom>
          <a:noFill/>
          <a:ln w="6350">
            <a:solidFill>
              <a:srgbClr val="94A3B8"/>
            </a:solidFill>
            <a:prstDash val="solid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363</Words>
  <Application>Microsoft Office PowerPoint</Application>
  <PresentationFormat>On-screen Show (16:9)</PresentationFormat>
  <Paragraphs>164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Calibri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noamane</cp:lastModifiedBy>
  <cp:revision>2</cp:revision>
  <dcterms:created xsi:type="dcterms:W3CDTF">2026-04-28T09:12:46Z</dcterms:created>
  <dcterms:modified xsi:type="dcterms:W3CDTF">2026-05-04T06:54:06Z</dcterms:modified>
</cp:coreProperties>
</file>